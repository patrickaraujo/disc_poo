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Programação Orientada a Objetos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 — Introdução à Orientação a Objetos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572000"/>
            <a:ext cx="77724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Santa Amaro — UNISA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veremos hoje?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09728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introdutórios da Orientação a Objetos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1664208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166420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de Orientação a Objetos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2231136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2311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2231136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 superclasses, subclasses, abstratas e concretas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2798064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7980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279806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Objetos: instâncias, atributos e métodos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3364992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3649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336499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 e troca de informações entre objetos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1520" y="3931920"/>
            <a:ext cx="384048" cy="38404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931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393192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Dinâmicas &amp; Atividades práticas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</p:sp>
      <p:sp>
        <p:nvSpPr>
          <p:cNvPr id="24" name="Shape 22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645920"/>
            <a:ext cx="914400" cy="914400"/>
          </a:xfrm>
          <a:prstGeom prst="ellipse">
            <a:avLst/>
          </a:prstGeom>
          <a:solidFill>
            <a:srgbClr val="24365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47088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46304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1.1 Conceitos Introdutórios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828800" y="21945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Origens e evolução do paradigma de OO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</p:sp>
      <p:sp>
        <p:nvSpPr>
          <p:cNvPr id="8" name="Shape 5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começo: décadas de 1950–1960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décadas de 1950 e 1960, operar e programar computadores exigia formação especializada em computação.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inicial baseava-se em código binário e endereçamento direto de memória.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evolução, surgiram linguagens de alto nível, mais próximas da comunicação humana.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Computadores ficaram menores, mais baratos e acessíveis a públicos diversificados.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paradigmas de programação passaram a buscar maior semelhança com o mundo real.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surge a Orientação a Objetos?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Necessidade corporativa: programação deve atender processos de negócio reais.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principal: modelar problemas usando abstração de objetos do mundo real.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características (atributos) e funcionalidades (métodos) reais de cada entidade.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Facilitar a compreensão dos programadores sobre o processo de negócio, não apenas requisitos técnicos.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metodologias mais rápidas, dinâmicas e compreensíveis.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Dinâmica 1 — Antes vs. Depois da OO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solidFill>
            <a:srgbClr val="16223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329184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8016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duplas, discutam o cenário abaixo (5 minutos):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que vocês são programadores nos anos 1960. O chefe pede um sistema para controlar estoque de uma loja.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seria modelar esse problema em código binário/sequencial?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Agora, pensem no mesmo problema com orientação a objetos: quais 'objetos' da loja vocês usariam?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Listem pelo menos 3 objetos e 2 características de cada um.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Compartilhem as respostas com a turma!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</p:sp>
      <p:sp>
        <p:nvSpPr>
          <p:cNvPr id="8" name="Shape 6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Respostas possíveis — Dinâmica 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 típicos: Produto (nome, preço, quantidade), Cliente (nome, CPF), Venda (data, valor total), Funcionário (nome, cargo).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modelo sequencial: tudo seria tratado como variáveis soltas, sem agrupamento lógico.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OO: cada entidade é uma classe com seus atributos organizados — muito mais próximo da realidade da loja.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Vantagem visível: ao explicar o sistema para o dono da loja, os termos são os mesmos do cotidiano.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645920"/>
            <a:ext cx="914400" cy="914400"/>
          </a:xfrm>
          <a:prstGeom prst="ellipse">
            <a:avLst/>
          </a:prstGeom>
          <a:solidFill>
            <a:srgbClr val="24365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47088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46304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1.2 Definição de OO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828800" y="21945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 baseado na troca de mensagens entre objetos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</p:sp>
      <p:sp>
        <p:nvSpPr>
          <p:cNvPr id="8" name="Shape 5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é Orientação a Objetos?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 de análise, projeto e programação de softwares baseado em troca de mensagens entre objetos.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Ideia central: abstrair computacionalmente os elementos relevantes do cenário real.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elemento possui características principais (atributos) e ações pertinentes (métodos).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numa oficina mecânica, temos clientes, carros, ferramentas, mecânicos — todos representáveis como classes.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carro é um 'objeto' diferente, mantendo semelhança forte com a realidade observada.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Vantagens do paradigma OO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mais ágil, seguro e preciso.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 o diálogo entre analista e usuário final — termos do cotidiano, sem jargões de TI.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Programadores podem se especializar em classes específicas, sem necessidade de ver o sistema inteiro.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segurança: não é necessário expor todas as regras de negócio a todos os programadores.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Programador se aproxima do negócio da empresa e compreende melhor o fluxo real da informação.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Dinâmica 2 — Mapeando uma Empresa Real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solidFill>
            <a:srgbClr val="16223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329184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8016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grupos de 3–4, escolham uma empresa fictícia (ex.: hospital, escola, restaurante).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Identifiquem pelo menos 5 'objetos' presentes no dia a dia dessa empresa.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objeto, definam: 2 características (atributos) e 1 ação (método).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Hospital → Médico (nome, CRM) → atenderPaciente().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Tempo: 7 minutos. Depois, cada grupo apresenta em 2 minutos.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</p:sp>
      <p:sp>
        <p:nvSpPr>
          <p:cNvPr id="8" name="Shape 6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25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Exemplos de respostas — Dinâmica 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Restaurante: Garçom (nome, seção) → anotarPedido(); Prato (nome, preço) → calcularTempo(); Mesa (número, capacidade) → reservar().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Escola: Aluno (matrícula, nome) → realizarProva(); Professor (disciplina, salário) → ministrarAula(); Turma (código, horário) → fecharNotas().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importante é notar como cada entidade tem identidade, características e comportamentos próprios.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25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645920"/>
            <a:ext cx="914400" cy="914400"/>
          </a:xfrm>
          <a:prstGeom prst="ellipse">
            <a:avLst/>
          </a:prstGeom>
          <a:solidFill>
            <a:srgbClr val="24365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47088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46304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1.3 Classes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828800" y="21945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estrutura que organiza e agrupa objetos similares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</p:sp>
      <p:sp>
        <p:nvSpPr>
          <p:cNvPr id="8" name="Shape 5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25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é uma Classe?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que organiza e agrupa objetos com características parecidas e funções similares.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como um molde: todos os objetos instanciados seguem o mesmo padrão.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objeto tem suas particularidades — valores diferentes nos mesmos atributos.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Classe 'Carro' com propriedades ano, modelo e cor. Cada carro tem valores diferentes.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'Pessoa' teria propriedades completamente diferentes: motorista, nascimento, nacionalidade.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25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Superclasses e Subclasses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Superclasses podem originar outras classes, passando propriedades e métodos — conceito de herança.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novas classes geradas são chamadas subclasses e herdam tudo da 'classe pai'.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Subclasses podem ter alterações e propriedades adicionais em relação à superclasse.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Superclasse 'Carro' → Subclasse 'Pick-up' herda ano, modelo, cor e adiciona 'caçamba'.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Herança permite reutilização de código e organização hierárquica do sistema.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Classes Abstratas vs. Concretas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Concretas: classes tradicionais das quais instanciamos objetos diretamente.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Abstratas: não podemos instanciar objetos a partir delas diretamente.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Servem como estrutura de referência para derivar outras classes (concretas ou abstratas).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Possibilitam herança de características por novas classes que então instanciam objetos.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Resumo: classes abstratas são superclasses que nunca terão objetos instanciados.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25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Dinâmica 3 — Criando uma Hierarquia de Classes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solidFill>
            <a:srgbClr val="16223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329184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8016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duplas, criem uma hierarquia de classes para um e-commerce: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Definam 1 superclasse abstrata com pelo menos 3 atributos.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Criem 2 subclasses concretas que herdem da superclasse e adicionem atributos próprios.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de partida: Superclasse 'Produto' → Subclasses: 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Desenhem a hierarquia no papel e apresentem em 2 minutos.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Tempo: 6 minutos.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</p:sp>
      <p:sp>
        <p:nvSpPr>
          <p:cNvPr id="8" name="Shape 6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25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Exemplo de resposta — Dinâmica 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Superclasse abstrata 'Produto': nome (caractere), preço (real), peso (real).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Subclasse 'Eletrônico': herda tudo de Produto + voltagem (inteiro) + garantiaMeses (inteiro).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Subclasse 'Vestuário': herda tudo de Produto + tamanho (caractere) + cor (caractere).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'Produto' é abstrata porque não instanciamos um 'produto genérico' — sempre é algo específico.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25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645920"/>
            <a:ext cx="914400" cy="914400"/>
          </a:xfrm>
          <a:prstGeom prst="ellipse">
            <a:avLst/>
          </a:prstGeom>
          <a:solidFill>
            <a:srgbClr val="24365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47088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46304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1.4 Objetos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828800" y="21945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Instâncias de classes com atributos e métodos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</p:sp>
      <p:sp>
        <p:nvSpPr>
          <p:cNvPr id="8" name="Shape 5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25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Atributos e Métodos de um Objeto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 são o resultado da instanciação de uma classe — são o 'produto feito no molde'.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Atributos: propriedades que definem o estado do objeto (ex.: ano=2015, cor=Amarelo).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Métodos: ações que o objeto pode realizar (ex.: ligar(), acelerar(), frear()).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Construtor: inicializa os atributos e aloca espaço em memória. Tem o mesmo nome da classe.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Destrutor: apaga o objeto da memória quando não é mais necessário. Linguagens modernas usam garbage collector.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25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Dinâmica 4 — Instanciando Objetos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solidFill>
            <a:srgbClr val="16223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329184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8016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Individualmente, usando a classe 'Carro' (ano, modelo, cor, ligar(), acelerar(), frear()):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Instancie 2 objetos com valores diferentes para cada atributo.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Descreva uma sequência de 3 chamadas de métodos para cada objeto.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meuCarro.ligar() → meuCarro.acelerar() → meuCarro.frear().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Pergunta-bônus: o que o método construtor faz ao criar o objeto 'meuCarro'?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Tempo: 4 minutos.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</p:sp>
      <p:sp>
        <p:nvSpPr>
          <p:cNvPr id="8" name="Shape 6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25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Respostas possíveis — Dinâmica 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 1 — fusca: ano=1972, modelo='Fusca', cor='Azul'. fusca.ligar() → fusca.acelerar() → fusca.frear().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 2 — civic: ano=2024, modelo='Civic', cor='Preto'. civic.ligar() → civic.acelerar() → civic.frear().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construtor Carro(): aloca memória e define valores iniciais dos atributos ano, modelo e cor.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compartilham a mesma estrutura (classe), mas têm estados (valores) diferentes.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25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645920"/>
            <a:ext cx="914400" cy="914400"/>
          </a:xfrm>
          <a:prstGeom prst="ellipse">
            <a:avLst/>
          </a:prstGeom>
          <a:solidFill>
            <a:srgbClr val="24365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47088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46304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 Mensagens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828800" y="21945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e troca de dados entre objetos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</p:sp>
      <p:sp>
        <p:nvSpPr>
          <p:cNvPr id="8" name="Shape 5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25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objetos se comunicam?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 são requisições enviadas de um objeto a outro para executar ações.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operação realizada depende dos métodos e atributos da classe do objeto receptor.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 podem ser simples solicitações ou conter parâmetros e valores.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do receptor podem retornar informações ao objeto solicitante ou apenas executar operações.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troca de mensagens é o motor do paradigma OO — processos simulam interações reais.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angle">
            <a:avLst/>
          </a:prstGeom>
          <a:solidFill>
            <a:srgbClr val="1A294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54880"/>
            <a:ext cx="5486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9144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25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65760"/>
            <a:ext cx="7680960" cy="1188720"/>
          </a:xfrm>
          <a:prstGeom prst="rect">
            <a:avLst/>
          </a:prstGeom>
          <a:solidFill>
            <a:srgbClr val="16223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365760"/>
            <a:ext cx="54864" cy="1188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457200"/>
            <a:ext cx="7040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"O principal objetivo do paradigma de OO é modelar problemas com a abstração de objetos do mundo real."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Pontos-chave da aula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 modela o mundo real com classes, objetos, atributos e métodos.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são moldes; objetos são instâncias com valores específicos.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Herança (superclasses/subclasses) permite reutilização e organização.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abstratas servem de referência e nunca são instanciadas.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comunicação entre objetos acontece por troca de mensagens.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572000"/>
            <a:ext cx="4572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 Até a próxima aula.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4572000"/>
            <a:ext cx="36576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 — Programação Orientada a Objetos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Programação Orientada a Objetos — Aula 1</dc:title>
  <dc:subject>PptxGenJS Presentation</dc:subject>
  <dc:creator>UNISA</dc:creator>
  <cp:lastModifiedBy>UNISA</cp:lastModifiedBy>
  <cp:revision>1</cp:revision>
  <dcterms:created xsi:type="dcterms:W3CDTF">2026-03-08T06:23:33Z</dcterms:created>
  <dcterms:modified xsi:type="dcterms:W3CDTF">2026-03-08T06:23:33Z</dcterms:modified>
</cp:coreProperties>
</file>